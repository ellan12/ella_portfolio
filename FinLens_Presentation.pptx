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(treated)</c:v>
                </c:pt>
              </c:strCache>
            </c:strRef>
          </c:tx>
          <c:spPr>
            <a:ln w="38100" cap="flat">
              <a:solidFill>
                <a:srgbClr val="1F77B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51.7</c:v>
                </c:pt>
                <c:pt idx="1">
                  <c:v>56</c:v>
                </c:pt>
                <c:pt idx="2">
                  <c:v>55.3</c:v>
                </c:pt>
                <c:pt idx="3">
                  <c:v>59.5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DC-E040-A3A9-A416FCF591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avg</c:v>
                </c:pt>
              </c:strCache>
            </c:strRef>
          </c:tx>
          <c:spPr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49.7</c:v>
                </c:pt>
                <c:pt idx="1">
                  <c:v>52.5</c:v>
                </c:pt>
                <c:pt idx="2">
                  <c:v>51.5</c:v>
                </c:pt>
                <c:pt idx="3">
                  <c:v>54.1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DC-E040-A3A9-A416FCF591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 (pp)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627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EC-BF4A-8FBE-C71D6BC3825F}"/>
              </c:ext>
            </c:extLst>
          </c:dPt>
          <c:dPt>
            <c:idx val="1"/>
            <c:invertIfNegative val="0"/>
            <c:bubble3D val="0"/>
            <c:spPr>
              <a:solidFill>
                <a:srgbClr val="1F77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EC-BF4A-8FBE-C71D6BC3825F}"/>
              </c:ext>
            </c:extLst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EC-BF4A-8FBE-C71D6BC3825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 (CCPA 2020)</c:v>
                </c:pt>
                <c:pt idx="1">
                  <c:v>VA (VCDPA 2023)</c:v>
                </c:pt>
                <c:pt idx="2">
                  <c:v>CO (CPA 2023)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3.24</c:v>
                </c:pt>
                <c:pt idx="1">
                  <c:v>1.8</c:v>
                </c:pt>
                <c:pt idx="2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1EC-BF4A-8FBE-C71D6BC382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ATT (pp)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β coefficient (pp)</c:v>
                </c:pt>
              </c:strCache>
            </c:strRef>
          </c:tx>
          <c:spPr>
            <a:ln w="38100" cap="flat">
              <a:solidFill>
                <a:srgbClr val="1F77B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t−4</c:v>
                </c:pt>
                <c:pt idx="1">
                  <c:v>t−3</c:v>
                </c:pt>
                <c:pt idx="2">
                  <c:v>t−2</c:v>
                </c:pt>
                <c:pt idx="3">
                  <c:v>t−1
(ref)</c:v>
                </c:pt>
                <c:pt idx="4">
                  <c:v>t0</c:v>
                </c:pt>
                <c:pt idx="5">
                  <c:v>t+1</c:v>
                </c:pt>
                <c:pt idx="6">
                  <c:v>t+2</c:v>
                </c:pt>
                <c:pt idx="7">
                  <c:v>t+3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-0.8</c:v>
                </c:pt>
                <c:pt idx="1">
                  <c:v>0.4</c:v>
                </c:pt>
                <c:pt idx="2">
                  <c:v>-0.3</c:v>
                </c:pt>
                <c:pt idx="3">
                  <c:v>0</c:v>
                </c:pt>
                <c:pt idx="4">
                  <c:v>-1.2</c:v>
                </c:pt>
                <c:pt idx="5">
                  <c:v>2.1</c:v>
                </c:pt>
                <c:pt idx="6">
                  <c:v>3.8</c:v>
                </c:pt>
                <c:pt idx="7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6E-7245-81E9-4095C8713F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 (pp)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CA0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BDE-3A44-984B-DF985C891B41}"/>
              </c:ext>
            </c:extLst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DE-3A44-984B-DF985C891B41}"/>
              </c:ext>
            </c:extLst>
          </c:dPt>
          <c:dPt>
            <c:idx val="2"/>
            <c:invertIfNegative val="0"/>
            <c:bubble3D val="0"/>
            <c:spPr>
              <a:solidFill>
                <a:srgbClr val="FF7F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DE-3A44-984B-DF985C891B41}"/>
              </c:ext>
            </c:extLst>
          </c:dPt>
          <c:dPt>
            <c:idx val="3"/>
            <c:invertIfNegative val="0"/>
            <c:bubble3D val="0"/>
            <c:spPr>
              <a:solidFill>
                <a:srgbClr val="D627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DE-3A44-984B-DF985C891B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High (ref)</c:v>
                </c:pt>
                <c:pt idx="1">
                  <c:v>Middle</c:v>
                </c:pt>
                <c:pt idx="2">
                  <c:v>Moderate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3.85</c:v>
                </c:pt>
                <c:pt idx="1">
                  <c:v>4.42</c:v>
                </c:pt>
                <c:pt idx="2">
                  <c:v>2.08</c:v>
                </c:pt>
                <c:pt idx="3">
                  <c:v>1.32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BDE-3A44-984B-DF985C891B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265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inlens-app-360526413047.us-central1.run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1F77B4">
              <a:alpha val="45000"/>
            </a:srgbClr>
          </a:solidFill>
          <a:ln w="12700">
            <a:solidFill>
              <a:srgbClr val="1F77B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1645920" cy="2743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RESEARCH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FinLens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6E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Mortgage Analytics &amp; Privacy Law Impact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68833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E4F0"/>
                </a:solidFill>
              </a:rPr>
              <a:t>Causal Inference on CCPA / VCDPA / CPA Effects on US Mortgage Lending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0"/>
                </a:solidFill>
              </a:rPr>
              <a:t>HMDA (CFPB) 2018 – 2023  ·  FRED Macro Controls  ·  States: CA · TX · FL · OH · NY · 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479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4F0"/>
                </a:solidFill>
              </a:rPr>
              <a:t>Live Demo:</a:t>
            </a:r>
            <a:endParaRPr lang="en-US" sz="11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1554480" y="350672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F77B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https://finlens-app-360526413047.us-central1.run.app/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325880" cy="292608"/>
          </a:xfrm>
          <a:prstGeom prst="rect">
            <a:avLst/>
          </a:prstGeom>
          <a:solidFill>
            <a:srgbClr val="0F2447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B4D0"/>
                </a:solidFill>
              </a:rPr>
              <a:t>BigQuery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3749040"/>
            <a:ext cx="1325880" cy="292608"/>
          </a:xfrm>
          <a:prstGeom prst="rect">
            <a:avLst/>
          </a:prstGeom>
          <a:solidFill>
            <a:srgbClr val="0F2447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20240" y="37490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B4D0"/>
                </a:solidFill>
              </a:rPr>
              <a:t>dbt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3749040"/>
            <a:ext cx="1325880" cy="292608"/>
          </a:xfrm>
          <a:prstGeom prst="rect">
            <a:avLst/>
          </a:prstGeom>
          <a:solidFill>
            <a:srgbClr val="0F2447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37490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B4D0"/>
                </a:solidFill>
              </a:rPr>
              <a:t>Airflow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749040"/>
            <a:ext cx="1325880" cy="292608"/>
          </a:xfrm>
          <a:prstGeom prst="rect">
            <a:avLst/>
          </a:prstGeom>
          <a:solidFill>
            <a:srgbClr val="0F2447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7490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B4D0"/>
                </a:solidFill>
              </a:rPr>
              <a:t>Streamlit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1325880" cy="292608"/>
          </a:xfrm>
          <a:prstGeom prst="rect">
            <a:avLst/>
          </a:prstGeom>
          <a:solidFill>
            <a:srgbClr val="0F2447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37490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B4D0"/>
                </a:solidFill>
              </a:rPr>
              <a:t>statsmodels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A1A35"/>
          </a:solidFill>
          <a:ln w="12700">
            <a:solidFill>
              <a:srgbClr val="0A1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8229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8FAF"/>
                </a:solidFill>
              </a:rPr>
              <a:t>FinLens  ·  Privacy Law Impact Study  ·  HMDA 2018–2023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Research Question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consumer data privacy laws affect mortgage lending access?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114800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① Aggregate Effect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Does CCPA reduce overall mortgage approval rates in California relative to control states (TX, FL, OH)?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89888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389888"/>
            <a:ext cx="4114800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481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② Distributional Effect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Does the impact fall disproportionately on lower-income borrowers — widening the credit-access gap by income?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</a:rPr>
              <a:t>Three Privacy Laws Studied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2651760" cy="54864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" y="33467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CCPA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5216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California  ·  2020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Broad opt-out rights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Most comprehensive US state privacy law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3273552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91840" y="3273552"/>
            <a:ext cx="2651760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19856" y="3346704"/>
            <a:ext cx="1252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7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VCDPA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19856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Virginia  ·  2023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19856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Narrower opt-out scope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Controllers &amp; processors framework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3273552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3273552"/>
            <a:ext cx="2651760" cy="54864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54496" y="33467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A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54496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Colorado  ·  2023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Opt-in for sensitive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Universal opt-out mechanism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&amp; Technology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</a:rPr>
              <a:t>Data 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25296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54864" cy="80467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HMDA — CFPB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Loan-level mortgage applications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2018–2023 · CA · TX · FL · OH · NY · IL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85416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185416"/>
            <a:ext cx="54864" cy="80467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58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FRED Macro Series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328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State unemployment rate, HPI,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30-year fixed mortgage rate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1272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</a:rPr>
              <a:t>Key Variables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approval_rate  ·  origination_rate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avg_ltv  ·  avg_interest_rate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income_tier  (low / moderate / middle / high)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is_investor_loan  ·  is_california  ·  is_post_ccpa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8046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</a:rPr>
              <a:t>Data Pipeline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225296"/>
            <a:ext cx="411480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2252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CFPB / FRED APIs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1682496"/>
            <a:ext cx="182880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938528"/>
            <a:ext cx="411480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1938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Airflow Ingestion DAGs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395728"/>
            <a:ext cx="182880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2651760"/>
            <a:ext cx="4114800" cy="457200"/>
          </a:xfrm>
          <a:prstGeom prst="rect">
            <a:avLst/>
          </a:prstGeom>
          <a:solidFill>
            <a:srgbClr val="0D6EAF"/>
          </a:solidFill>
          <a:ln w="12700">
            <a:solidFill>
              <a:srgbClr val="0D6E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BigQuery Raw Tables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182880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364992"/>
            <a:ext cx="4114800" cy="457200"/>
          </a:xfrm>
          <a:prstGeom prst="rect">
            <a:avLst/>
          </a:prstGeom>
          <a:solidFill>
            <a:srgbClr val="128B6F"/>
          </a:solidFill>
          <a:ln w="12700">
            <a:solidFill>
              <a:srgbClr val="128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3364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dbt Staging → Marts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822192"/>
            <a:ext cx="182880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4078224"/>
            <a:ext cx="4114800" cy="4572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40782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 Analytics App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 — 5 Causal Inference Scenarios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All models: HC3 heteroscedasticity-robust OLS  ·  Parallel trends tested  ·  State &amp; year fixed effects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7004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70048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1612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16128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 2×2 DiD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69164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CA vs. TX/FL/OH · Pre: 2018–19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Post: 2020–21 · HC3-robust 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7004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70048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11612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116128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Staggered DiD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69164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CCPA/VCDPA/CPA cohorts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Callaway &amp; Sant'Anna approximation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7004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143000"/>
            <a:ext cx="2670048" cy="457200"/>
          </a:xfrm>
          <a:prstGeom prst="rect">
            <a:avLst/>
          </a:prstGeom>
          <a:solidFill>
            <a:srgbClr val="0D6EAF"/>
          </a:solidFill>
          <a:ln w="12700">
            <a:solidFill>
              <a:srgbClr val="0D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11612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29400" y="116128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Event Study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169164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Dynamic DiD · Leads t−4 to t−2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Lags t0 to t+3 · Pre-trend F-test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2944368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97280" y="2944368"/>
            <a:ext cx="3200400" cy="457200"/>
          </a:xfrm>
          <a:prstGeom prst="rect">
            <a:avLst/>
          </a:prstGeom>
          <a:solidFill>
            <a:srgbClr val="128B6F"/>
          </a:solidFill>
          <a:ln w="12700">
            <a:solidFill>
              <a:srgbClr val="128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7008" y="29626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29626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Triple DiD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3493008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Investor vs. owner-occupied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CA × Post × InvestorLoan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944368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944368"/>
            <a:ext cx="3200400" cy="4572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56048" y="29626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40680" y="296265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Interaction DiD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3493008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did × C(income_tier)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Joint F-test of heterogeneity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1 — Standard 2×2 DiD: CA vs. Control States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731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7B4"/>
                </a:solidFill>
              </a:rPr>
              <a:t>Business Question: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04288" y="7315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A3A6B"/>
                </a:solidFill>
              </a:rPr>
              <a:t>Does CCPA reduce overall mortgage approval rates in California relative to control states (TX, FL, OH)?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54864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261872"/>
            <a:ext cx="171907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6B"/>
                </a:solidFill>
              </a:rPr>
              <a:t>+3.24 pp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1641348"/>
            <a:ext cx="171907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DiD Estimate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87168" y="11887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87168" y="1188720"/>
            <a:ext cx="54864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24328" y="1261872"/>
            <a:ext cx="171907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6B"/>
                </a:solidFill>
              </a:rPr>
              <a:t>p = 0.54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24328" y="1641348"/>
            <a:ext cx="171907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Not sig. at 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11887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08576" y="1188720"/>
            <a:ext cx="54864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45736" y="1261872"/>
            <a:ext cx="171907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6B"/>
                </a:solidFill>
              </a:rPr>
              <a:t>N = 2,352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45736" y="1641348"/>
            <a:ext cx="171907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Observations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9984" y="1188720"/>
            <a:ext cx="1920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9984" y="1188720"/>
            <a:ext cx="54864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67144" y="1261872"/>
            <a:ext cx="171907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6B"/>
                </a:solidFill>
              </a:rPr>
              <a:t>R² = 0.005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67144" y="1641348"/>
            <a:ext cx="171907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Model fit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15798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Parallel Trends: Approval Rate — CA vs. Control Average</a:t>
            </a:r>
            <a:endParaRPr lang="en-US" sz="13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65760" y="2505456"/>
          <a:ext cx="51206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5715000" y="21579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OLS Results (HC3-Robust SEs)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438903"/>
              </p:ext>
            </p:extLst>
          </p:nvPr>
        </p:nvGraphicFramePr>
        <p:xfrm>
          <a:off x="5715000" y="2400300"/>
          <a:ext cx="3108960" cy="233172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Coef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p-val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did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+3.24 pp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0.540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treat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+17.45 pp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0.391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post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−2.06 pp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0.798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C(state)[T.OH]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+15.18 pp ***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C(state)[T.TX]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+13.85 pp ***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C(state)[T.FL]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+14.00 pp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0.139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unemployment_rate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−0.76 pp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0.622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mortgage_rate_30yr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−4.86 pp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3A6B"/>
                          </a:solidFill>
                        </a:rPr>
                        <a:t>0.190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0" y="4773336"/>
            <a:ext cx="9144000" cy="370164"/>
          </a:xfrm>
          <a:prstGeom prst="rect">
            <a:avLst/>
          </a:prstGeom>
          <a:solidFill>
            <a:srgbClr val="EAF0FA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0" y="4663440"/>
            <a:ext cx="201168" cy="4800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292608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7B4"/>
                </a:solidFill>
              </a:rPr>
              <a:t>Conclusion: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481328" y="4690872"/>
            <a:ext cx="7479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6B"/>
                </a:solidFill>
              </a:rPr>
              <a:t>No statistically significant aggregate effect of CCPA on approval rates (DiD = +3.24 pp, p = 0.54). Lenders appear to have adapted without restricting overall credit access in California.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2 — Staggered DiD: Multi-State Privacy Law Rollout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731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7B4"/>
                </a:solidFill>
              </a:rPr>
              <a:t>Business Question: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04288" y="7315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A3A6B"/>
                </a:solidFill>
              </a:rPr>
              <a:t>Do CCPA, VCDPA, and CPA each reduce mortgage approval rates in their respective states — and do effects persist over time?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Callaway &amp; Sant'Anna approximation  ·  Cohort-specific 2×2 DiD  ·  Never-treated states (TX, FL, OH) as controls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481328"/>
            <a:ext cx="2743200" cy="457200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14996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15568" y="1499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CCPA  ·  2020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19842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3+ post-law years (2020–2023).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Most precise ATT estimate.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Broad opt-out reduces data signals.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14813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1481328"/>
            <a:ext cx="274320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01568" y="14996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041648" y="1499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VCDPA  ·  2023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01568" y="19842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~1 post-law year available.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CI is wide — not yet conclusive.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Narrower opt-out scope than CCPA.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481328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481328"/>
            <a:ext cx="2743200" cy="4572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27648" y="14996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67728" y="1499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CPA  ·  2023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7648" y="19842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~1 post-law year available.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CI is wide — not yet conclusive.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Opt-in model for sensitive data.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31638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Cohort ATT — Approval Rate (percentage points)</a:t>
            </a:r>
            <a:endParaRPr lang="en-US" sz="13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65760" y="3511296"/>
          <a:ext cx="50292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5742432" y="3099816"/>
            <a:ext cx="3200400" cy="1783080"/>
          </a:xfrm>
          <a:prstGeom prst="rect">
            <a:avLst/>
          </a:prstGeom>
          <a:solidFill>
            <a:srgbClr val="D6E4F0"/>
          </a:solidFill>
          <a:ln w="12700">
            <a:solidFill>
              <a:srgbClr val="1F77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806440" y="3137483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Key Interpretation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806440" y="3429084"/>
            <a:ext cx="2926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</a:rPr>
              <a:t>CA (CCPA): </a:t>
            </a:r>
            <a:r>
              <a:rPr lang="en-US" sz="1000" dirty="0">
                <a:solidFill>
                  <a:srgbClr val="475569"/>
                </a:solidFill>
              </a:rPr>
              <a:t>Most reliable — 3+ years of post-law data.
</a:t>
            </a:r>
            <a:r>
              <a:rPr lang="en-US" sz="1000" b="1" dirty="0">
                <a:solidFill>
                  <a:srgbClr val="475569"/>
                </a:solidFill>
              </a:rPr>
              <a:t>VA &amp; CO: </a:t>
            </a:r>
            <a:r>
              <a:rPr lang="en-US" sz="1000" dirty="0">
                <a:solidFill>
                  <a:srgbClr val="475569"/>
                </a:solidFill>
              </a:rPr>
              <a:t>Only 1 year of post-law data. Very wide CIs — not yet conclusive.
</a:t>
            </a:r>
            <a:r>
              <a:rPr lang="en-US" sz="1000" b="1" dirty="0">
                <a:solidFill>
                  <a:srgbClr val="475569"/>
                </a:solidFill>
              </a:rPr>
              <a:t>Next step: </a:t>
            </a:r>
            <a:r>
              <a:rPr lang="en-US" sz="1000" dirty="0">
                <a:solidFill>
                  <a:srgbClr val="475569"/>
                </a:solidFill>
              </a:rPr>
              <a:t>Rerun with 2024–2025 HMDA vintages.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AF0FA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0" y="4663440"/>
            <a:ext cx="201168" cy="4800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92608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7B4"/>
                </a:solidFill>
              </a:rPr>
              <a:t>Conclusion: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481328" y="4663440"/>
            <a:ext cx="7479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3A6B"/>
                </a:solidFill>
              </a:rPr>
              <a:t>CA (CCPA) shows a positive directional ATT — no adverse approval rate effect detected. VA and CO results are inconclusive with only 1 post-law year of data; requires 2024–2025 HMDA vintages to confirm.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3 — Event Study: Timing of Lender Behaviour Change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731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7B4"/>
                </a:solidFill>
              </a:rPr>
              <a:t>Business Question: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04288" y="7315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A3A6B"/>
                </a:solidFill>
              </a:rPr>
              <a:t>When did lenders change their behaviour relative to CCPA's enactment — and did approval rates trend differently before the law?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Dynamic DiD  ·  Leads t−4 to t−2  ·  Lags t0 to t+3  ·  Reference: t = −1 (omitted)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Event Study Coefficient Plot — Approval Rate (CA vs. Control)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65760" y="1792224"/>
          <a:ext cx="5303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5897880" y="1463040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97880" y="1463040"/>
            <a:ext cx="54864" cy="804672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0" y="152704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Pre-trend F-test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181051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Tests whether β coefficients before enactment (t &lt; −1) are jointly zero. Validates parallel trends.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97880" y="2377440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897880" y="2377440"/>
            <a:ext cx="54864" cy="80467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35040" y="244144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Timing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35040" y="272491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 break at t=0 or t+1 means lenders adjusted underwriting close to CCPA effective date.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97880" y="3291840"/>
            <a:ext cx="2926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897880" y="3291840"/>
            <a:ext cx="54864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35040" y="335584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Persistence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35040" y="363931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Positive lags (t+2, t+3) confirm a lasting effect — not just a one-time compliance adjustment.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65760" y="42793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Pre-law coefficients near zero (t−4 to t−2) support the parallel trends assumption required for causal identification.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AF7EE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0" y="4663440"/>
            <a:ext cx="201168" cy="48006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92608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A02C"/>
                </a:solidFill>
              </a:rPr>
              <a:t>Conclusion: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481328" y="4663440"/>
            <a:ext cx="7479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3A"/>
                </a:solidFill>
              </a:rPr>
              <a:t>Parallel trends assumption holds (pre-law coefficients near zero). Post-law coefficients trend positive — no adverse timing effect at CCPA enactment; lender adaptation appears gradual rather than abrupt.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4 — Triple DiD: Investor vs. Owner-Occupied Loans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731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7B4"/>
                </a:solidFill>
              </a:rPr>
              <a:t>Business Question: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04288" y="7315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A3A6B"/>
                </a:solidFill>
              </a:rPr>
              <a:t>Does CCPA disproportionately restrict underwriting for investor loans relative to owner-occupied loans — isolating the data-broker channel?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170432"/>
            <a:ext cx="8412480" cy="6217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17043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approval_rate  ~  CA × Post × InvestorLoan  +  CA × Post  +  covariates  +  C(state_code)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9385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</a:rPr>
              <a:t>Mechanism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3931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54864" cy="1024128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36829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Owner-Occupied Loans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651760"/>
            <a:ext cx="3730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Long credit histories and stable income docs. Less reliant on third-party data broker signals for underwriting decisions.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39319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54864" cy="1024128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55701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Investor / Non-Owner Loans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840480"/>
            <a:ext cx="3730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Rental income projections and property valuations depend heavily on data broker inputs — more exposed to CCPA data restrictions.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19385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</a:rPr>
              <a:t>Triple DiD Coefficient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17720" y="230428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2304288"/>
            <a:ext cx="54864" cy="11887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236829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Key Term: CA × Post × InvestorLoan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651760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 significant negative coefficient means CCPA tightened underwriting specifically for investor loans in CA relative to owner-occupied loans and relative to control states — isolating the data-broker channel.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584448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17720" y="3584448"/>
            <a:ext cx="54864" cy="1207008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64845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Why This Matters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931920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If investor loans show a differential negative ATT: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→ CCPA restricts data-driven underwriting signals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→ Lenders become more conservative on non-standard loans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→ Real estate investment activity may slow in treated states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FF8EC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0" y="4663440"/>
            <a:ext cx="201168" cy="480060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2608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F0E"/>
                </a:solidFill>
              </a:rPr>
              <a:t>Conclusion: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81328" y="4663440"/>
            <a:ext cx="7479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4A00"/>
                </a:solidFill>
              </a:rPr>
              <a:t>Investor loan channel not yet tested definitively — requires loan-level HMDA microdata. If the CA × Post × InvestorLoan term is significantly negative, CCPA tightens data-driven underwriting for non-owner-occupied properties.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5 — Income Tier Heterogeneity (Interaction DiD)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731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7B4"/>
                </a:solidFill>
              </a:rPr>
              <a:t>Business Question: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04288" y="7315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A3A6B"/>
                </a:solidFill>
              </a:rPr>
              <a:t>Does the lending impact of CCPA fall disproportionately on lower-income borrowers — widening the credit-access gap by income?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069848"/>
            <a:ext cx="8412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Model: did × C(income_tier)  ·  High-income as reference  ·  Joint F-test of heterogeneity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Absolute ATT by FFIEC Income Tier (pp)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65760" y="1792224"/>
          <a:ext cx="49377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5577840" y="1388974"/>
            <a:ext cx="3200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596044" y="1398403"/>
            <a:ext cx="54864" cy="1078992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15000" y="1536192"/>
            <a:ext cx="29992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6B"/>
                </a:solidFill>
              </a:rPr>
              <a:t>−2.53 pp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15000" y="2056486"/>
            <a:ext cx="3063240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Low vs. High disparity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05856" y="2081908"/>
            <a:ext cx="2926080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Low-income receive 2.53 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less benefit than high-income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2536546"/>
            <a:ext cx="3200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596044" y="2559771"/>
            <a:ext cx="54864" cy="10789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0" y="2578243"/>
            <a:ext cx="29992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6B"/>
                </a:solidFill>
              </a:rPr>
              <a:t>F = 0.11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715000" y="3049159"/>
            <a:ext cx="2999232" cy="667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Joint heterogeneity F-test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69112" y="3306836"/>
            <a:ext cx="3173220" cy="29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  p = 0.95 — no statistically significant heterogeneity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05272" y="3741440"/>
            <a:ext cx="3200400" cy="92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603594" y="3816543"/>
            <a:ext cx="54864" cy="10789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678424" y="3798968"/>
            <a:ext cx="29992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6B"/>
                </a:solidFill>
              </a:rPr>
              <a:t>N = 2,352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705856" y="4220008"/>
            <a:ext cx="2999232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Observations (pooled)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15000" y="4379325"/>
            <a:ext cx="3072384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Aggregated panel limits statistical power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65760" y="4279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Direction consistent with policy concern: low-income borrowers receive less benefit. Wide CIs reflect aggregated state×year panel — individual loan-level data needed for definitive inference.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FFF8EC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0" y="4663440"/>
            <a:ext cx="201168" cy="480060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92608" y="4663440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F0E"/>
                </a:solidFill>
              </a:rPr>
              <a:t>Conclusion: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481328" y="4815240"/>
            <a:ext cx="7479792" cy="328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4A00"/>
                </a:solidFill>
              </a:rPr>
              <a:t>Directional evidence: low-income borrowers receive 2.53 pp less benefit than high-income (+1.32 pp vs +3.85 pp). Not statistically significant (F = 0.11, p = 0.95) — aggregated panel data lacks power. Warrants individual loan-level replication.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Findings &amp; Limitations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93776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32120" y="749808"/>
            <a:ext cx="3337560" cy="347472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32120" y="7498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937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54864" cy="89611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28016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No statistically significant aggregate CCPA effect on approval rates (DiD = +3.24 pp, p = 0.54). Lenders appear to have adapted without restricting aggregate credit.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937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54864" cy="89611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Low-income borrowers receive less benefit (+1.32 pp) vs. high-income (+3.85 pp) — a directional −2.53 pp disparity, though not significant at 5% with available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937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54864" cy="89611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Investor loan channel (Triple DiD) warrants deeper investigation — data brokers are more critical for non-owner-occupied underwriting.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4937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54864" cy="896112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29768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VA and CO (2023 laws) need 2–3 more years of HMDA data before cohort ATTs are estimable with meaningful precision.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1188720"/>
            <a:ext cx="3337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32120" y="1188720"/>
            <a:ext cx="54864" cy="896112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0" y="128016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Aggregated state × year panel data severely limits statistical power for heterogeneity detection.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2194560"/>
            <a:ext cx="3337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32120" y="2194560"/>
            <a:ext cx="54864" cy="896112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0" y="228600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Only 1 post-law year for VA (VCDPA) and CO (CPA) — too few observations for robust ATT estimation.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32120" y="3200400"/>
            <a:ext cx="3337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32120" y="3200400"/>
            <a:ext cx="54864" cy="896112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0" y="329184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Approval rate is a noisy proxy: loan withdrawal, pre-qualification denials, and pricing are not captured.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32120" y="4206240"/>
            <a:ext cx="33375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32120" y="4206240"/>
            <a:ext cx="54864" cy="896112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0" y="42976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Potential confounders: COVID-19 shock (2020), Federal Reserve rate cycle, overlapping state housing policies.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Policy Implications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2062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20624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877824"/>
            <a:ext cx="329184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877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8778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Limited Aggregate Impact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CCPA as designed appears to have limited measurable effect on aggregate mortgage approval rates. Lenders may have adapted data practices without meaningfully restricting credit decisions at the portfolio level.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42062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822960"/>
            <a:ext cx="4206240" cy="457200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10328" y="877824"/>
            <a:ext cx="329184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0328" y="877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2728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0952" y="8778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Fair-Lending Concern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3716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Thin-file, low-income borrowers rely more on third-party data signals than prime borrowers with long credit histories. CCPA restrictions may widen the credit-access gap by income — without any discriminatory intent. Warrants CRA-level monitoring.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2062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206240" cy="457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2889504"/>
            <a:ext cx="329184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7B4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28895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Investor Market Exposure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3832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The investor loan channel is more exposed to data-broker restrictions. A significant Triple DiD coefficient would indicate CCPA is cooling real estate investment activity in treated states by tightening data-driven underwriting.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834640"/>
            <a:ext cx="42062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2834640"/>
            <a:ext cx="4206240" cy="4572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10328" y="2889504"/>
            <a:ext cx="329184" cy="329184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0328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A02C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30952" y="28895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Additional testing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3832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Rerun with individual loan-level HMDA microdata (not aggregated). Test the impact of HDMA regulation on data-broker usage using lender survey data post-CCPA enactment.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A1A35"/>
          </a:solidFill>
          <a:ln w="12700">
            <a:solidFill>
              <a:srgbClr val="0A1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6E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2304288"/>
            <a:ext cx="3657600" cy="36576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4871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E4F0"/>
                </a:solidFill>
              </a:rPr>
              <a:t>Platform:  </a:t>
            </a:r>
            <a:r>
              <a:rPr lang="en-US" sz="1300" dirty="0">
                <a:solidFill>
                  <a:srgbClr val="AABBD0"/>
                </a:solidFill>
              </a:rPr>
              <a:t>FinLens Mortgage Analytics &amp; Privacy Law Impact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E4F0"/>
                </a:solidFill>
              </a:rPr>
              <a:t>Data:  </a:t>
            </a:r>
            <a:r>
              <a:rPr lang="en-US" sz="1300" dirty="0">
                <a:solidFill>
                  <a:srgbClr val="AABBD0"/>
                </a:solidFill>
              </a:rPr>
              <a:t>HMDA (CFPB) 2018–2023  +  FRED Macro Controls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1821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E4F0"/>
                </a:solidFill>
              </a:rPr>
              <a:t>States:  </a:t>
            </a:r>
            <a:r>
              <a:rPr lang="en-US" sz="1300" dirty="0">
                <a:solidFill>
                  <a:srgbClr val="AABBD0"/>
                </a:solidFill>
              </a:rPr>
              <a:t>CA · TX · FL · OH · NY · 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5295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E4F0"/>
                </a:solidFill>
              </a:rPr>
              <a:t>Stack:  </a:t>
            </a:r>
            <a:r>
              <a:rPr lang="en-US" sz="1300" dirty="0">
                <a:solidFill>
                  <a:srgbClr val="AABBD0"/>
                </a:solidFill>
              </a:rPr>
              <a:t>BigQuery · dbt · Airflow · Streamlit · Python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87705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E4F0"/>
                </a:solidFill>
              </a:rPr>
              <a:t>Demo:  </a:t>
            </a:r>
            <a:r>
              <a:rPr lang="en-US" sz="1100" u="sng" dirty="0">
                <a:solidFill>
                  <a:srgbClr val="1F77B4"/>
                </a:solidFill>
              </a:rPr>
              <a:t>https://finlens-app-360526413047.us-central1.run.app/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79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F"/>
                </a:solidFill>
              </a:rPr>
              <a:t>FinLens  ·  Privacy Law Impact Study  ·  HMDA 2018–2023  ·  Causal Inference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Deployment Architecture — Google Cloud + Streamlit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Production-grade pipeline: ingestion → transformation → analytics app, fully hosted on GCP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600200" cy="420624"/>
          </a:xfrm>
          <a:prstGeom prst="rect">
            <a:avLst/>
          </a:prstGeom>
          <a:solidFill>
            <a:srgbClr val="34568B"/>
          </a:solidFill>
          <a:ln w="12700">
            <a:solidFill>
              <a:srgbClr val="3456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09728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① Data Sources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CFPB HMDA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FRED Macro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92808" y="2066544"/>
            <a:ext cx="155448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57400" y="109728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57400" y="1097280"/>
            <a:ext cx="1600200" cy="420624"/>
          </a:xfrm>
          <a:prstGeom prst="rect">
            <a:avLst/>
          </a:prstGeom>
          <a:solidFill>
            <a:srgbClr val="0D6EAF"/>
          </a:solidFill>
          <a:ln w="12700">
            <a:solidFill>
              <a:srgbClr val="0D6E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30552" y="109728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② Ingestion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48840" y="1591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Cloud Composer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202996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(Airflow DAGs)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4688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Cloud Scheduler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75888" y="2066544"/>
            <a:ext cx="155448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0" y="109728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0" y="1097280"/>
            <a:ext cx="1600200" cy="42062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13632" y="109728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③ Storage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31920" y="1591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BigQuery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202996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Raw + Staging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24688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Datasets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58968" y="2066544"/>
            <a:ext cx="155448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23560" y="1097280"/>
            <a:ext cx="1600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623560" y="1097280"/>
            <a:ext cx="1600200" cy="420624"/>
          </a:xfrm>
          <a:prstGeom prst="rect">
            <a:avLst/>
          </a:prstGeom>
          <a:solidFill>
            <a:srgbClr val="128B6F"/>
          </a:solidFill>
          <a:ln w="12700">
            <a:solidFill>
              <a:srgbClr val="128B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96712" y="109728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④ Transform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15000" y="1591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dbt 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202996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Staging → Marts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24688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Data quality tests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42048" y="2066544"/>
            <a:ext cx="155448" cy="256032"/>
          </a:xfrm>
          <a:prstGeom prst="rect">
            <a:avLst/>
          </a:prstGeom>
          <a:solidFill>
            <a:srgbClr val="9DAFC0"/>
          </a:solidFill>
          <a:ln w="12700">
            <a:solidFill>
              <a:srgbClr val="9DA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06640" y="1097280"/>
            <a:ext cx="1463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06640" y="1097280"/>
            <a:ext cx="1463040" cy="420624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79792" y="10972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⑤ Serve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98080" y="15910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Cloud Run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20299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Streamlit App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24688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HTTPS endpoint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</a:rPr>
              <a:t>GCP Services used in this deployment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3657600"/>
            <a:ext cx="16276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3657600"/>
            <a:ext cx="1627632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37307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</a:rPr>
              <a:t>BigQuery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02336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Petabyte-scale analytical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data warehouse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029968" y="3657600"/>
            <a:ext cx="16276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029968" y="3657600"/>
            <a:ext cx="1627632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121408" y="37307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</a:rPr>
              <a:t>Cloud Composer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121408" y="402336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Managed Apache Airflow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for pipeline orchestration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85616" y="3657600"/>
            <a:ext cx="16276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785616" y="3657600"/>
            <a:ext cx="1627632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877056" y="37307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</a:rPr>
              <a:t>Cloud Run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77056" y="402336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Serverless containers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for Streamlit app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41264" y="3657600"/>
            <a:ext cx="16276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541264" y="3657600"/>
            <a:ext cx="1627632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632704" y="37307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</a:rPr>
              <a:t>Artifact Registry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32704" y="402336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Docker image registry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for app containers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296912" y="3657600"/>
            <a:ext cx="16276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296912" y="3657600"/>
            <a:ext cx="1627632" cy="54864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388352" y="37307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</a:rPr>
              <a:t>Secret Manager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88352" y="402336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API keys &amp; service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account credentials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1905</Words>
  <Application>Microsoft Macintosh PowerPoint</Application>
  <PresentationFormat>On-screen Show (16:9)</PresentationFormat>
  <Paragraphs>278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FinLens: Mortgage Analytics &amp; Privacy Law Impact</dc:title>
  <dc:subject>PptxGenJS Presentation</dc:subject>
  <dc:creator>FinLens</dc:creator>
  <cp:lastModifiedBy>Ella Ndalla</cp:lastModifiedBy>
  <cp:revision>6</cp:revision>
  <dcterms:created xsi:type="dcterms:W3CDTF">2026-06-15T22:30:33Z</dcterms:created>
  <dcterms:modified xsi:type="dcterms:W3CDTF">2026-06-19T04:28:00Z</dcterms:modified>
</cp:coreProperties>
</file>